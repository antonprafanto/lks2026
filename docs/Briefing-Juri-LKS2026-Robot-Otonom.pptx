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9144000" cy="512064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1913549" cy="594360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325880"/>
            <a:ext cx="1417320" cy="1417320"/>
          </a:xfrm>
          <a:prstGeom prst="rect">
            <a:avLst/>
          </a:prstGeom>
        </p:spPr>
      </p:pic>
      <p:pic>
        <p:nvPicPr>
          <p:cNvPr id="6" name="Picture 5" descr="logo-lks-geomet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371600"/>
            <a:ext cx="1325880" cy="1325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06324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  <a:defRPr sz="3800" b="1">
                <a:solidFill>
                  <a:srgbClr val="1F4E79"/>
                </a:solidFill>
              </a:defRPr>
            </a:pPr>
            <a:r>
              <a:t>Briefing Juri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862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Robot Bergerak Otonom</a:t>
            </a:r>
          </a:p>
          <a:p>
            <a:pPr algn="ctr">
              <a:spcAft>
                <a:spcPts val="600"/>
              </a:spcAft>
              <a:defRPr sz="1700" b="0">
                <a:solidFill>
                  <a:srgbClr val="ED7D31"/>
                </a:solidFill>
              </a:defRPr>
            </a:pPr>
            <a:r>
              <a:t>LKS Nasional XXXIV 2026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555555"/>
                </a:solidFill>
              </a:defRPr>
            </a:pPr>
            <a:r>
              <a:t>Kemendikdasmen — Pusat Prestasi Nasional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1  |  Briefing Juri LKS 2026  |  Autonomous Mobile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2  |  Briefing Juri LKS 2026 — Robot Bergerak Otonom  | 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822960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Peran juri &amp; file penilaian (Excel)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Modul A–E dan bobot skor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Sistem penilaian: Judgement vs Measurement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Alur run otonom (SIAP → START → nilai)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Demo Modul E langkah demi langkah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Ringkasan Modul D, arena, K3, CIS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File Penilaian Juri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3  |  Briefing Juri LKS 2026 — Robot Bergerak Otonom  | 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822960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Pakai SATU file: templates/LKS2026-Penilaian-Juri.xlsx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File latihan: LKS2026-Penilaian-Juri-CONTOH.xlsx (sudah terisi contoh)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Duplikat per tim (Save As) — jangan pakai file CSV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Kompatibel Excel 2010+ (Microsoft Excel desktop)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Bingung? Klik link GitHub di baris 2 setiap sheet Excel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Repositori: github.com/antonprafanto/LKS2026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Panduan per modul: docs/SOP-JURI.md (§5–§10, §12) di GitHub</a:t>
            </a:r>
          </a:p>
          <a:p>
            <a:pPr>
              <a:spcAft>
                <a:spcPts val="0"/>
              </a:spcAft>
              <a:defRPr sz="1200" b="0">
                <a:solidFill>
                  <a:srgbClr val="ED7D31"/>
                </a:solidFill>
              </a:defRPr>
            </a:pPr>
            <a:r>
              <a:t>Marking Scheme CIS = sumber kebenaran poin detail (dari Chief Expert).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Cara Isi Excel — Sheet Undian Kubus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4  |  Briefing Juri LKS 2026 — Robot Bergerak Otonom  |  Kemendikdasmen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960120"/>
          <a:ext cx="8412480" cy="2532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42214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Langkah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Di mana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Isi apa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2214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Baris 24 (kuning)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Warna marker: Merah / Hijau / Biru per slot</a:t>
                      </a:r>
                    </a:p>
                  </a:txBody>
                  <a:tcPr/>
                </a:tc>
              </a:tr>
              <a:tr h="42214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Baris 28–36 kolom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ID kubus: K-M1, K-H2, dst.</a:t>
                      </a:r>
                    </a:p>
                  </a:txBody>
                  <a:tcPr/>
                </a:tc>
              </a:tr>
              <a:tr h="42214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Kolom 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Rak/Stand: Rak 1, Stand A, ... (dropdown)</a:t>
                      </a:r>
                    </a:p>
                  </a:txBody>
                  <a:tcPr/>
                </a:tc>
              </a:tr>
              <a:tr h="42214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Kolom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Slot: kiri / tengah / kanan (dropdown)</a:t>
                      </a:r>
                    </a:p>
                  </a:txBody>
                  <a:tcPr/>
                </a:tc>
              </a:tr>
              <a:tr h="42214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Sheet Modul 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Otomatis — juri isi Hasil Run (1/0) saja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Identitas Lomba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5  |  Briefing Juri LKS 2026 — Robot Bergerak Otonom  | 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822960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Bidang: Robot Bergerak Otonom (Autonomous Mobile Robotics)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Tim: 2 peserta | Offline | ±15 jam kerja / 3 hari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Tema 2026: Service Robot at Library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Robot mengambil kubus (buku) dan menaruh ke rak sesuai marker warna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Standar: WorldSkills WSOS Skill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Bobot Modul (total 100 poin)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6  |  Briefing Juri LKS 2026 — Robot Bergerak Otonom  |  Kemendikdasmen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960120"/>
          <a:ext cx="8412480" cy="2532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2214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Modul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Kriteria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Hari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Bobot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Metode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2214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Organisasi &amp; manajemen kerja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H1–H3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Judgement</a:t>
                      </a:r>
                    </a:p>
                  </a:txBody>
                  <a:tcPr/>
                </a:tc>
              </a:tr>
              <a:tr h="42214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Jurnal / laporan teknis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J + M</a:t>
                      </a:r>
                    </a:p>
                  </a:txBody>
                  <a:tcPr/>
                </a:tc>
              </a:tr>
              <a:tr h="42214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Perakitan robot (L-Channel)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Judgement</a:t>
                      </a:r>
                    </a:p>
                  </a:txBody>
                  <a:tcPr/>
                </a:tc>
              </a:tr>
              <a:tr h="42214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Gerakan dasar &amp; manajemen objek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Measurement</a:t>
                      </a:r>
                    </a:p>
                  </a:txBody>
                  <a:tcPr/>
                </a:tc>
              </a:tr>
              <a:tr h="42214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Performansi otonom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H2–H3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Measurement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Sistem Penilaian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7  |  Briefing Juri LKS 2026 — Robot Bergerak Otonom  | 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822960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Judgement (J): skala 0–3 untuk proses, kerapian, kolaborasi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Measurement (M): 1 = berhasil, 0 = gagal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3 juri untuk J → rata-rata; selisih ≥ 2 poin → ulangi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Input ke CIS → skala 700 (Medallion jika &gt; 700)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60% skor dari Modul E — fokus utama penilaian juri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Jadwal Singkat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8  |  Briefing Juri LKS 2026 — Robot Bergerak Otonom  |  Kemendikdasmen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960120"/>
          <a:ext cx="841248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4206240"/>
              </a:tblGrid>
              <a:tr h="42976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Hari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Fokus penilaian juri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H-1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Technical meeting + familiarisasi arena (2 jam)</a:t>
                      </a:r>
                    </a:p>
                  </a:txBody>
                  <a:tcPr/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Modul A, B, C — perakitan L-Channel (maks. 2 jam)</a:t>
                      </a:r>
                    </a:p>
                  </a:txBody>
                  <a:tcPr/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Modul D (15 menit/tim) + trial Modul E</a:t>
                      </a:r>
                    </a:p>
                  </a:txBody>
                  <a:tcPr/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Final Modul E (+ variasi soal 30%)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9  |  Briefing Juri LKS 2026 — Robot Bergerak Otonom  |  Kemendikdasmen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7863840" cy="18288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7315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Bagian 2</a:t>
            </a:r>
          </a:p>
          <a:p>
            <a:pPr algn="ctr">
              <a:spcAft>
                <a:spcPts val="0"/>
              </a:spcAft>
              <a:defRPr sz="1600" b="0">
                <a:solidFill>
                  <a:srgbClr val="ED7D31"/>
                </a:solidFill>
              </a:defRPr>
            </a:pPr>
            <a:r>
              <a:t>Alur Run Otonom — Modul E (60%)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Alur Run Otonom (Modul E)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10  |  Briefing Juri LKS 2026 — Robot Bergerak Otonom  | 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822960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333333"/>
                </a:solidFill>
              </a:defRPr>
            </a:pPr>
            <a:r>
              <a:t>1. Briefing layout arena</a:t>
            </a:r>
          </a:p>
          <a:p>
            <a:pPr>
              <a:spcAft>
                <a:spcPts val="800"/>
              </a:spcAft>
              <a:defRPr sz="1800" b="0">
                <a:solidFill>
                  <a:srgbClr val="333333"/>
                </a:solidFill>
              </a:defRPr>
            </a:pPr>
            <a:r>
              <a:t>2. Programming (laptop boleh disentuh)</a:t>
            </a:r>
          </a:p>
          <a:p>
            <a:pPr>
              <a:spcAft>
                <a:spcPts val="800"/>
              </a:spcAft>
              <a:defRPr sz="1800" b="1">
                <a:solidFill>
                  <a:srgbClr val="333333"/>
                </a:solidFill>
              </a:defRPr>
            </a:pPr>
            <a:r>
              <a:t>3. Peserta nyatakan SIAP</a:t>
            </a:r>
          </a:p>
          <a:p>
            <a:pPr>
              <a:spcAft>
                <a:spcPts val="800"/>
              </a:spcAft>
              <a:defRPr sz="1800" b="0">
                <a:solidFill>
                  <a:srgbClr val="333333"/>
                </a:solidFill>
              </a:defRPr>
            </a:pPr>
            <a:r>
              <a:t>4. Laptop dilarang | Juri acak kubus</a:t>
            </a:r>
          </a:p>
          <a:p>
            <a:pPr>
              <a:spcAft>
                <a:spcPts val="800"/>
              </a:spcAft>
              <a:defRPr sz="1800" b="1">
                <a:solidFill>
                  <a:srgbClr val="333333"/>
                </a:solidFill>
              </a:defRPr>
            </a:pPr>
            <a:r>
              <a:t>5. START → tekan tombol di robot</a:t>
            </a:r>
          </a:p>
          <a:p>
            <a:pPr>
              <a:spcAft>
                <a:spcPts val="800"/>
              </a:spcAft>
              <a:defRPr sz="1800" b="0">
                <a:solidFill>
                  <a:srgbClr val="333333"/>
                </a:solidFill>
              </a:defRPr>
            </a:pPr>
            <a:r>
              <a:t>6. Run otonom — catat di Excel</a:t>
            </a:r>
          </a:p>
          <a:p>
            <a:pPr>
              <a:spcAft>
                <a:spcPts val="800"/>
              </a:spcAft>
              <a:defRPr sz="1800" b="0">
                <a:solidFill>
                  <a:srgbClr val="333333"/>
                </a:solidFill>
              </a:defRPr>
            </a:pPr>
            <a:r>
              <a:t>7. Nilai 1/0 per kubus di Modul 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49240"/>
            <a:ext cx="8321040" cy="777240"/>
          </a:xfrm>
          <a:prstGeom prst="rect">
            <a:avLst/>
          </a:prstGeom>
          <a:solidFill>
            <a:srgbClr val="FFF3E0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44068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ED7D31"/>
                </a:solidFill>
              </a:defRPr>
            </a:pPr>
            <a:r>
              <a:t>PENTING: Sentuh laptop setelah SIAP atau sentuh robot setelah START = pelanggaran (run dapat dibatalkan).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Demo Modul E — Langkah 1/8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11  |  Briefing Juri LKS 2026 — Robot Bergerak Otonom  | 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60120"/>
            <a:ext cx="50292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14984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41832"/>
            <a:ext cx="7589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F4E79"/>
                </a:solidFill>
              </a:defRPr>
            </a:pPr>
            <a:r>
              <a:t>Briefing layout arena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822960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Jelaskan posisi START, 3 rak, gate, dan obstacle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Tunjukkan marker warna di slot rak (bisa berubah tiap soal)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Pastikan lampu arena menyala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Isi sheet Undian Kubus di Excel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532120"/>
            <a:ext cx="8321040" cy="713232"/>
          </a:xfrm>
          <a:prstGeom prst="rect">
            <a:avLst/>
          </a:prstGeom>
          <a:solidFill>
            <a:srgbClr val="FFF3E0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ED7D31"/>
                </a:solidFill>
              </a:defRPr>
            </a:pPr>
            <a:r>
              <a:t>PENTING — Juri: Jangan mulai run sebelum peserta paham layout.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Demo Modul E — Langkah 2/8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12  |  Briefing Juri LKS 2026 — Robot Bergerak Otonom  | 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60120"/>
            <a:ext cx="50292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14984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41832"/>
            <a:ext cx="7589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F4E79"/>
                </a:solidFill>
              </a:defRPr>
            </a:pPr>
            <a:r>
              <a:t>Programming &amp; persiapan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82296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Peserta memprogram navigasi, visi, pick-place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Peserta BOLEH menyentuh laptop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Cek tombol START di robot dan STOP merah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Juri observasi Modul A (kolaborasi &amp; 5S)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Demo Modul E — Langkah 3/8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13  |  Briefing Juri LKS 2026 — Robot Bergerak Otonom  | 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60120"/>
            <a:ext cx="50292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14984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41832"/>
            <a:ext cx="7589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F4E79"/>
                </a:solidFill>
              </a:defRPr>
            </a:pPr>
            <a:r>
              <a:t>Sinyal SIAP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822960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Peserta menyatakan SIAP saat program siap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Setelah SIAP: TIDAK BOLEH sentuh laptop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Juri pastikan tangan peserta menjauh dari laptop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Siapkan pengacakan kubus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532120"/>
            <a:ext cx="8321040" cy="713232"/>
          </a:xfrm>
          <a:prstGeom prst="rect">
            <a:avLst/>
          </a:prstGeom>
          <a:solidFill>
            <a:srgbClr val="FFF3E0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ED7D31"/>
                </a:solidFill>
              </a:defRPr>
            </a:pPr>
            <a:r>
              <a:t>PENTING — Juri: Sentuh laptop setelah SIAP = pelanggaran.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Demo Modul E — Langkah 4/8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14  |  Briefing Juri LKS 2026 — Robot Bergerak Otonom  | 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60120"/>
            <a:ext cx="50292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14984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41832"/>
            <a:ext cx="7589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F4E79"/>
                </a:solidFill>
              </a:defRPr>
            </a:pPr>
            <a:r>
              <a:t>Pengacakan &amp; isi Excel Undian Kubus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822960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Acak 9 kubus di rak dan stand (beberapa sengaja salah)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Baris 24: isi warna marker per slot (Merah/Hijau/Biru)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Baris 28–36: kolom A = ID | E = Rak/Stand | F = Slot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Warna, bentuk, lokasi, slot target terisi otomatis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532120"/>
            <a:ext cx="8321040" cy="713232"/>
          </a:xfrm>
          <a:prstGeom prst="rect">
            <a:avLst/>
          </a:prstGeom>
          <a:solidFill>
            <a:srgbClr val="FFF3E0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ED7D31"/>
                </a:solidFill>
              </a:defRPr>
            </a:pPr>
            <a:r>
              <a:t>PENTING — Juri: Isi Undian SEBELUM run — Modul E membaca data dari sini.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Demo Modul E — Langkah 5/8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15  |  Briefing Juri LKS 2026 — Robot Bergerak Otonom  | 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60120"/>
            <a:ext cx="50292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14984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41832"/>
            <a:ext cx="7589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F4E79"/>
                </a:solidFill>
              </a:defRPr>
            </a:pPr>
            <a:r>
              <a:t>Sinyal START &amp; run otonom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822960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Juri beri sinyal START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Peserta tekan tombol START di robot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Robot berjalan sepenuhnya otonom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Catat di sheet Log Run Otonom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532120"/>
            <a:ext cx="8321040" cy="713232"/>
          </a:xfrm>
          <a:prstGeom prst="rect">
            <a:avLst/>
          </a:prstGeom>
          <a:solidFill>
            <a:srgbClr val="FFF3E0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ED7D31"/>
                </a:solidFill>
              </a:defRPr>
            </a:pPr>
            <a:r>
              <a:t>PENTING — Juri: Jangan sentuh robot setelah START.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Demo Modul E — Langkah 6/8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16  |  Briefing Juri LKS 2026 — Robot Bergerak Otonom  | 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60120"/>
            <a:ext cx="50292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14984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41832"/>
            <a:ext cx="7589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F4E79"/>
                </a:solidFill>
              </a:defRPr>
            </a:pPr>
            <a:r>
              <a:t>Penilaian per kubus (Modul 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82296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Sukses = kubus di slot rak, marker warna cocok, stabil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Kolom OK Awal = sudah benar sebelum run (referensi)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Kolom Hasil Run (1/0) = keputusan juri SETELAH run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Bobot: 60/9 poin per kubus (total 60) — konfirmasi ke 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Contoh baris Modul E (setelah Undian terisi)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17  |  Briefing Juri LKS 2026 — Robot Bergerak Otonom  |  Kemendikdasmen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960120"/>
          <a:ext cx="8412480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4119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Posisi Awal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Slot Target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OK Awal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Hasil Run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119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K-M2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Stand A — depan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R1-S1, R2-S2, R3-S3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44119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K-H2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Stand B — depan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R1-S2, R2-S3, R3-S1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44119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K-M1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Rak 1 — kiri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R1-S1, R2-S2, R3-S3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defRPr sz="1100" b="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Demo Modul E — Langkah 7/8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18  |  Briefing Juri LKS 2026 — Robot Bergerak Otonom  | 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60120"/>
            <a:ext cx="50292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14984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41832"/>
            <a:ext cx="7589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F4E79"/>
                </a:solidFill>
              </a:defRPr>
            </a:pPr>
            <a:r>
              <a:t>Prosedur RETRY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82296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Peserta boleh minta RETRY dan ubah program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Kubus di robot dikeluarkan ke luar arena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Posisi kubus tidak dikembalikan ke awal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SIAP lagi → acak ulang → START baru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Demo Modul E — Langkah 8/8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19  |  Briefing Juri LKS 2026 — Robot Bergerak Otonom  |  Kemendikdasmen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60120"/>
            <a:ext cx="50292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14984"/>
            <a:ext cx="502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41832"/>
            <a:ext cx="7589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2200" b="1">
                <a:solidFill>
                  <a:srgbClr val="1F4E79"/>
                </a:solidFill>
              </a:defRPr>
            </a:pPr>
            <a:r>
              <a:t>Rekap &amp; CIS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82296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Periksa sheet Rekapitulasi di Excel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Chief Expert review pelanggaran &amp; outlier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Input skor resmi ke CIS</a:t>
            </a:r>
          </a:p>
          <a:p>
            <a:pPr>
              <a:spcAft>
                <a:spcPts val="1200"/>
              </a:spcAft>
              <a:defRPr sz="1700" b="0">
                <a:solidFill>
                  <a:srgbClr val="333333"/>
                </a:solidFill>
              </a:defRPr>
            </a:pPr>
            <a:r>
              <a:t>Penentuan juara &amp; Medallion of Excellence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Latihan bersama juri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20  |  Briefing Juri LKS 2026 — Robot Bergerak Otonom  | 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822960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Buka templates/LKS2026-Penilaian-Juri-CONTOH.xlsx (contoh terisi)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Baca docs/CONTOH-EXCEL-MODUL-E.md dan SKENARIO-SOAL-CONTOH.md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Praktikkan: isi Undian → cek Modul E → isi Hasil Run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Simulasikan RETRY dan pelanggaran SIAP/START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21  |  Briefing Juri LKS 2026 — Robot Bergerak Otonom  |  Kemendikdasmen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7863840" cy="18288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7315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Bagian 3</a:t>
            </a:r>
          </a:p>
          <a:p>
            <a:pPr algn="ctr">
              <a:spcAft>
                <a:spcPts val="0"/>
              </a:spcAft>
              <a:defRPr sz="1600" b="0">
                <a:solidFill>
                  <a:srgbClr val="ED7D31"/>
                </a:solidFill>
              </a:defRPr>
            </a:pPr>
            <a:r>
              <a:t>Ringkasan Modul D, Arena &amp; K3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Modul D (12 poin, 15 menit/tim)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22  |  Briefing Juri LKS 2026 — Robot Bergerak Otonom  | 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822960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Gerak 4 arah, deteksi dinding, line follower U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Deteksi warna: merah, hijau, biru (tampil di monitor)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Deteksi bentuk: O-merah, O-hijau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Pick dari rak &amp; place ke stand — otonom</a:t>
            </a:r>
          </a:p>
          <a:p>
            <a:pPr>
              <a:spcAft>
                <a:spcPts val="0"/>
              </a:spcAft>
              <a:defRPr sz="1200" b="0">
                <a:solidFill>
                  <a:srgbClr val="ED7D31"/>
                </a:solidFill>
              </a:defRPr>
            </a:pPr>
            <a:r>
              <a:t>Bobot item mentah 12,9 — diskalakan ke 12 di Excel.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Arena &amp; spesifikasi robot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23  |  Briefing Juri LKS 2026 — Robot Bergerak Otonom  | 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822960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Arena ±4040×2040 mm | 3 rak | 9 kubus | 10 obstacle | 1 gate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Controller: Raspberry Pi atau myRIO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Python / C++ / LabVIEW | baterai ≤12V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Tombol STOP merah wajib | 30% rule di H3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9144000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emendikdas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707475" cy="530352"/>
          </a:xfrm>
          <a:prstGeom prst="rect">
            <a:avLst/>
          </a:prstGeom>
        </p:spPr>
      </p:pic>
      <p:pic>
        <p:nvPicPr>
          <p:cNvPr id="5" name="Picture 4" descr="logo-lks-dik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54864"/>
            <a:ext cx="62179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128016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K3 &amp; klarifikasi ke Chief Expert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91440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455664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FFFFFF"/>
                </a:solidFill>
              </a:defRPr>
            </a:pPr>
            <a:r>
              <a:t>Slide 24  |  Briefing Juri LKS 2026 — Robot Bergerak Otonom  |  Kemendikdasmen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822960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Larangan air terbuka dekat peralatan listrik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Reset obstacle yang jatuh sebelum tim berikutnya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Klarifikasi: ukuran arena, max RETRY, bobot CIS</a:t>
            </a:r>
          </a:p>
          <a:p>
            <a:pPr>
              <a:spcAft>
                <a:spcPts val="1000"/>
              </a:spcAft>
              <a:defRPr sz="1700" b="0">
                <a:solidFill>
                  <a:srgbClr val="333333"/>
                </a:solidFill>
              </a:defRPr>
            </a:pPr>
            <a:r>
              <a:t>Dokumen resmi: smk.pusatprestasinasional.kemdikdasmen.go.id</a:t>
            </a:r>
          </a:p>
          <a:p>
            <a:pPr>
              <a:spcAft>
                <a:spcPts val="0"/>
              </a:spcAft>
              <a:defRPr sz="1200" b="0">
                <a:solidFill>
                  <a:srgbClr val="ED7D31"/>
                </a:solidFill>
              </a:defRPr>
            </a:pPr>
            <a:r>
              <a:t>Terima kasih — selamat bertugas sebagai juri LKS 2026!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